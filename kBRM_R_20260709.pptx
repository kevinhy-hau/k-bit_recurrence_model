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72" r:id="rId4"/>
    <p:sldId id="258" r:id="rId5"/>
    <p:sldId id="279" r:id="rId6"/>
    <p:sldId id="259" r:id="rId7"/>
    <p:sldId id="260" r:id="rId8"/>
    <p:sldId id="262" r:id="rId9"/>
    <p:sldId id="261" r:id="rId10"/>
    <p:sldId id="263" r:id="rId11"/>
    <p:sldId id="264" r:id="rId12"/>
    <p:sldId id="265" r:id="rId13"/>
    <p:sldId id="267" r:id="rId14"/>
    <p:sldId id="268" r:id="rId15"/>
    <p:sldId id="269" r:id="rId16"/>
    <p:sldId id="271" r:id="rId17"/>
    <p:sldId id="273" r:id="rId18"/>
    <p:sldId id="274" r:id="rId19"/>
    <p:sldId id="275" r:id="rId20"/>
    <p:sldId id="277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00FF0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74" y="-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8" d="100"/>
          <a:sy n="48" d="100"/>
        </p:scale>
        <p:origin x="3714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40C7A35-E842-C6FC-3F6F-CF662686A2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3628F4-BBE3-46F3-442E-6DA8C38A4B8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3AD9A-58FF-41E3-9AC9-AFA028A1831E}" type="datetimeFigureOut">
              <a:rPr lang="en-GB" smtClean="0"/>
              <a:t>05/07/2026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E6251D-33E5-9430-BB76-EAFA446130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E820F6-D4E0-61F5-AFA5-945790ADDA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A10A03-EFF1-4DA3-8878-04DDD2F85D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02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19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2159D-A3B7-DF5E-6609-D516FB0C6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025E6-60D2-E3C9-C3F1-6F2EE83362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579A43-2140-D62A-717B-7CD172B03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870D21-0E69-917D-36F9-6F630A2229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6972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514D8-14B7-3304-D281-1979E4ED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7FEA00-A447-605D-E0B2-564CBF4C7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DB86DA-AD31-9838-C03B-7F2415A876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644EE-AA26-8D51-177F-8C8D3D0837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0478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E51AB-2774-AF62-7632-FE4C10621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AC85A3-93B7-B892-2CA0-8573E5A20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A63050-C241-6737-21EA-49E256386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30C2C-83D3-3DC6-DFD1-81FC543D97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8457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2213F-D009-BC12-20C2-49A8C8BDC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B35ED3-D31B-1672-6333-0AA37F5F3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9BBC7-57EE-CE92-4000-FFAD6EB69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A8920-8402-338A-5C4B-F8F7DB1F8E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403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5EF16-A097-5100-FD68-7C1DBBB90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C73C6-CBBE-8629-0256-95201DAFE4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E76C2D-0070-ECD4-AB28-33151B3DE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8704D-4A63-E15D-06F7-339C1A347F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254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kevinhyhau.shinyapps.io/k_Bit_Recurrence_Model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vinHY-Hau/k-Bit_Recurrence_Mode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0" y="4560570"/>
            <a:ext cx="86868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3" name="Text 1"/>
          <p:cNvSpPr/>
          <p:nvPr/>
        </p:nvSpPr>
        <p:spPr>
          <a:xfrm>
            <a:off x="475488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</a:rPr>
              <a:t>000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737360" y="4560570"/>
            <a:ext cx="868680" cy="54864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5" name="Text 3"/>
          <p:cNvSpPr/>
          <p:nvPr/>
        </p:nvSpPr>
        <p:spPr>
          <a:xfrm>
            <a:off x="1737360" y="4554855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</a:rPr>
              <a:t>101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766560" y="4560570"/>
            <a:ext cx="868680" cy="54864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7" name="Text 5"/>
          <p:cNvSpPr/>
          <p:nvPr/>
        </p:nvSpPr>
        <p:spPr>
          <a:xfrm>
            <a:off x="676656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4560570"/>
            <a:ext cx="86868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9" name="Text 7"/>
          <p:cNvSpPr/>
          <p:nvPr/>
        </p:nvSpPr>
        <p:spPr>
          <a:xfrm>
            <a:off x="73152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1394749"/>
            <a:ext cx="11247120" cy="1622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kern="0" spc="-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Hopfield Network with Expected Value</a:t>
            </a:r>
          </a:p>
          <a:p>
            <a:r>
              <a:rPr lang="en-US" sz="4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(k-Bit Recurrence Model – </a:t>
            </a:r>
            <a:r>
              <a:rPr lang="en-US" sz="4400" b="1" dirty="0" err="1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</a:t>
            </a:r>
            <a:r>
              <a:rPr lang="en-US" sz="4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binary payment streams, the R way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Hon Yin Hau (</a:t>
            </a:r>
            <a:r>
              <a:rPr lang="en-GB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July 2026)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dplyr</a:t>
            </a:r>
            <a:endParaRPr lang="en-US" sz="12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835C3EF0-F2D6-1ED0-2C55-5CC2F65958D8}"/>
              </a:ext>
            </a:extLst>
          </p:cNvPr>
          <p:cNvSpPr/>
          <p:nvPr/>
        </p:nvSpPr>
        <p:spPr>
          <a:xfrm>
            <a:off x="3749040" y="4560570"/>
            <a:ext cx="86868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D69A2336-1AC4-EC36-CDFB-A2540B85167E}"/>
              </a:ext>
            </a:extLst>
          </p:cNvPr>
          <p:cNvSpPr/>
          <p:nvPr/>
        </p:nvSpPr>
        <p:spPr>
          <a:xfrm>
            <a:off x="374904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2200" dirty="0"/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F4F67F2A-65AA-F428-3C70-010D09E10676}"/>
              </a:ext>
            </a:extLst>
          </p:cNvPr>
          <p:cNvSpPr/>
          <p:nvPr/>
        </p:nvSpPr>
        <p:spPr>
          <a:xfrm>
            <a:off x="2743200" y="4560570"/>
            <a:ext cx="86868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E8F3B671-CC1E-4462-D4DD-B5340C49980D}"/>
              </a:ext>
            </a:extLst>
          </p:cNvPr>
          <p:cNvSpPr/>
          <p:nvPr/>
        </p:nvSpPr>
        <p:spPr>
          <a:xfrm>
            <a:off x="274320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22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74A1F741-406D-5D3E-27DA-47230AEBEB72}"/>
              </a:ext>
            </a:extLst>
          </p:cNvPr>
          <p:cNvSpPr/>
          <p:nvPr/>
        </p:nvSpPr>
        <p:spPr>
          <a:xfrm>
            <a:off x="5760720" y="4560570"/>
            <a:ext cx="868680" cy="54864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A92A1239-61DD-6972-9AE1-2B1F881D6C2E}"/>
              </a:ext>
            </a:extLst>
          </p:cNvPr>
          <p:cNvSpPr/>
          <p:nvPr/>
        </p:nvSpPr>
        <p:spPr>
          <a:xfrm>
            <a:off x="576072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220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72D12E24-DEAB-B201-1409-54610F77B8D7}"/>
              </a:ext>
            </a:extLst>
          </p:cNvPr>
          <p:cNvSpPr/>
          <p:nvPr/>
        </p:nvSpPr>
        <p:spPr>
          <a:xfrm>
            <a:off x="7772400" y="4560570"/>
            <a:ext cx="868680" cy="54864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048AC70E-B61C-1230-4FDD-BFB5B52DBBBF}"/>
              </a:ext>
            </a:extLst>
          </p:cNvPr>
          <p:cNvSpPr/>
          <p:nvPr/>
        </p:nvSpPr>
        <p:spPr>
          <a:xfrm>
            <a:off x="7772400" y="456057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 stream of monthly payments that are either made or missed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Amy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" y="2743200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Beth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57200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Cat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457200" y="3474720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Dan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457200" y="3840480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Eve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45720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Frank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6035040" y="1554480"/>
            <a:ext cx="5669280" cy="457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91" name="Shape 89"/>
          <p:cNvSpPr/>
          <p:nvPr/>
        </p:nvSpPr>
        <p:spPr>
          <a:xfrm>
            <a:off x="6035040" y="1554480"/>
            <a:ext cx="73152" cy="457200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92" name="Text 90"/>
          <p:cNvSpPr/>
          <p:nvPr/>
        </p:nvSpPr>
        <p:spPr>
          <a:xfrm>
            <a:off x="6309360" y="1737359"/>
            <a:ext cx="5303520" cy="96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model decline curve for non-performing customer when they don’t have decline curve?</a:t>
            </a:r>
            <a:endParaRPr lang="en-US" sz="2000" dirty="0"/>
          </a:p>
        </p:txBody>
      </p:sp>
      <p:sp>
        <p:nvSpPr>
          <p:cNvPr id="93" name="Text 91"/>
          <p:cNvSpPr/>
          <p:nvPr/>
        </p:nvSpPr>
        <p:spPr>
          <a:xfrm>
            <a:off x="6309360" y="2651760"/>
            <a:ext cx="5303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 method:</a:t>
            </a:r>
            <a:endParaRPr lang="en-US" sz="1300" dirty="0"/>
          </a:p>
          <a:p>
            <a:pPr>
              <a:spcAft>
                <a:spcPts val="400"/>
              </a:spcAft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decline curve based on decline rate from last 3 months payment pattern. ‘111’ (three paid in a row) behaves very differently from ‘001' (paid but missed before). Basically, Markov chain with last month only. </a:t>
            </a:r>
          </a:p>
          <a:p>
            <a:pPr>
              <a:spcAft>
                <a:spcPts val="400"/>
              </a:spcAft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modellers use: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curves fit by hand, one per portfolio. No distribution, no confidence intervals. Good enough but can’t do anything when there is no decline rate for non-performing customer.</a:t>
            </a:r>
          </a:p>
        </p:txBody>
      </p:sp>
      <p:sp>
        <p:nvSpPr>
          <p:cNvPr id="94" name="Text 9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6" name="Text 75">
            <a:extLst>
              <a:ext uri="{FF2B5EF4-FFF2-40B4-BE49-F238E27FC236}">
                <a16:creationId xmlns:a16="http://schemas.microsoft.com/office/drawing/2014/main" id="{CD6CB3E7-396F-B002-9E2D-B088CA092A7A}"/>
              </a:ext>
            </a:extLst>
          </p:cNvPr>
          <p:cNvSpPr/>
          <p:nvPr/>
        </p:nvSpPr>
        <p:spPr>
          <a:xfrm>
            <a:off x="457200" y="4571996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Guy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Text 75">
            <a:extLst>
              <a:ext uri="{FF2B5EF4-FFF2-40B4-BE49-F238E27FC236}">
                <a16:creationId xmlns:a16="http://schemas.microsoft.com/office/drawing/2014/main" id="{3B8D8DBE-4271-1AD6-B393-5A2C034A27D3}"/>
              </a:ext>
            </a:extLst>
          </p:cNvPr>
          <p:cNvSpPr/>
          <p:nvPr/>
        </p:nvSpPr>
        <p:spPr>
          <a:xfrm>
            <a:off x="457200" y="4941566"/>
            <a:ext cx="822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Hugo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A45ADBD-26D0-F318-2E17-2E4DB4220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916434"/>
            <a:ext cx="3062064" cy="35645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76533-EF9E-83CD-F9FF-9A4EF922E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68EAE6C-D508-2518-BF1D-6E0E2D22FFC5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idea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E3E5A08-FBC1-5C5D-57DC-52EA0022E3D0}"/>
              </a:ext>
            </a:extLst>
          </p:cNvPr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last k months as a binary string</a:t>
            </a:r>
            <a:endParaRPr lang="en-US" sz="15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7B5EAF-897E-84C2-948E-88293593E8EC}"/>
              </a:ext>
            </a:extLst>
          </p:cNvPr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k = 3 months of history. Encode as 3-bit state. 8 possible states.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56F0705-6E38-3C4C-4D21-C84367AD7D48}"/>
              </a:ext>
            </a:extLst>
          </p:cNvPr>
          <p:cNvSpPr/>
          <p:nvPr/>
        </p:nvSpPr>
        <p:spPr>
          <a:xfrm>
            <a:off x="822960" y="4754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payments</a:t>
            </a:r>
            <a:endParaRPr lang="en-US" sz="1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3DCB20E-E89B-C359-D5FA-DF7E714973A6}"/>
              </a:ext>
            </a:extLst>
          </p:cNvPr>
          <p:cNvSpPr/>
          <p:nvPr/>
        </p:nvSpPr>
        <p:spPr>
          <a:xfrm>
            <a:off x="3750945" y="4754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/ unpaid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496A353-69F5-916F-78FA-8ADD644A110B}"/>
              </a:ext>
            </a:extLst>
          </p:cNvPr>
          <p:cNvSpPr/>
          <p:nvPr/>
        </p:nvSpPr>
        <p:spPr>
          <a:xfrm>
            <a:off x="6774180" y="4754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0</a:t>
            </a:r>
            <a:endParaRPr lang="en-US" sz="1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4A728A6-CFC8-76C0-8F62-D83FB617BEA1}"/>
              </a:ext>
            </a:extLst>
          </p:cNvPr>
          <p:cNvSpPr/>
          <p:nvPr/>
        </p:nvSpPr>
        <p:spPr>
          <a:xfrm>
            <a:off x="9237345" y="4754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3-bit codes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755FFD9F-AF42-2678-7721-EE9E29EC8874}"/>
              </a:ext>
            </a:extLst>
          </p:cNvPr>
          <p:cNvSpPr/>
          <p:nvPr/>
        </p:nvSpPr>
        <p:spPr>
          <a:xfrm>
            <a:off x="457200" y="5303520"/>
            <a:ext cx="1124712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14DDBF9-7F08-41ED-30B6-977C95A18C5A}"/>
              </a:ext>
            </a:extLst>
          </p:cNvPr>
          <p:cNvSpPr/>
          <p:nvPr/>
        </p:nvSpPr>
        <p:spPr>
          <a:xfrm>
            <a:off x="731520" y="53949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≠ current month — state = last k months.  </a:t>
            </a:r>
            <a:r>
              <a:rPr lang="en-US" sz="16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'000' customer behaves nothing like a ‘110' customer, even if both missed last month.</a:t>
            </a:r>
            <a:endParaRPr lang="en-US" sz="16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2F207F3-0152-4006-03D8-3A6FCD6534E8}"/>
              </a:ext>
            </a:extLst>
          </p:cNvPr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4878747-F485-8BEA-5387-036C01424575}"/>
              </a:ext>
            </a:extLst>
          </p:cNvPr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3519428D-A131-2B56-C59B-F81362C72E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84078" y="1737360"/>
            <a:ext cx="10319044" cy="2697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944019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</a:rPr>
              <a:t>Next Move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Pay or Not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possible states -&gt; 16 outcomes = 8 possible states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13" name="Text 10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14" name="Picture 5">
            <a:extLst>
              <a:ext uri="{FF2B5EF4-FFF2-40B4-BE49-F238E27FC236}">
                <a16:creationId xmlns:a16="http://schemas.microsoft.com/office/drawing/2014/main" id="{4093A213-9EC9-F0BF-5A11-3A6CC18D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01745" y="4069080"/>
            <a:ext cx="7999413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B3C21EC7-63B4-2D25-FC4D-1348C6DD2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01745" y="1727359"/>
            <a:ext cx="7999413" cy="1809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6" name="Shape 7">
            <a:extLst>
              <a:ext uri="{FF2B5EF4-FFF2-40B4-BE49-F238E27FC236}">
                <a16:creationId xmlns:a16="http://schemas.microsoft.com/office/drawing/2014/main" id="{C7539312-6B1E-EB3A-B566-3C5972CD92A4}"/>
              </a:ext>
            </a:extLst>
          </p:cNvPr>
          <p:cNvSpPr/>
          <p:nvPr/>
        </p:nvSpPr>
        <p:spPr>
          <a:xfrm>
            <a:off x="746568" y="1572245"/>
            <a:ext cx="1824990" cy="222823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 anchor="ctr"/>
          <a:lstStyle/>
          <a:p>
            <a:pPr algn="ctr"/>
            <a:r>
              <a:rPr lang="en-GB" sz="4800" b="1" dirty="0">
                <a:solidFill>
                  <a:schemeClr val="bg1"/>
                </a:solidFill>
              </a:rPr>
              <a:t>Pay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0AB476EF-CA10-FC8F-D2ED-C2F04F287562}"/>
              </a:ext>
            </a:extLst>
          </p:cNvPr>
          <p:cNvSpPr/>
          <p:nvPr/>
        </p:nvSpPr>
        <p:spPr>
          <a:xfrm>
            <a:off x="746568" y="3921918"/>
            <a:ext cx="1824990" cy="2123123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 anchor="ctr"/>
          <a:lstStyle/>
          <a:p>
            <a:pPr algn="ctr"/>
            <a:r>
              <a:rPr lang="en-GB" sz="4800" b="1" dirty="0">
                <a:solidFill>
                  <a:schemeClr val="bg1"/>
                </a:solidFill>
              </a:rPr>
              <a:t>Not</a:t>
            </a:r>
          </a:p>
          <a:p>
            <a:pPr algn="ctr"/>
            <a:r>
              <a:rPr lang="en-GB" sz="4800" b="1" dirty="0">
                <a:solidFill>
                  <a:schemeClr val="bg1"/>
                </a:solidFill>
              </a:rPr>
              <a:t>Pay</a:t>
            </a:r>
            <a:endParaRPr lang="en-GB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B4F44-E569-9FA0-3F8E-87C27081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ACF65D-6BCC-49A4-04E7-21261FBFB105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cs typeface="Consolas" pitchFamily="34" charset="-120"/>
              </a:rPr>
              <a:t>The Hopfield connection</a:t>
            </a:r>
            <a:endParaRPr lang="en-US" sz="3000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14AAD7A-11F2-AEAD-C520-C73CC10194EA}"/>
              </a:ext>
            </a:extLst>
          </p:cNvPr>
          <p:cNvSpPr/>
          <p:nvPr/>
        </p:nvSpPr>
        <p:spPr>
          <a:xfrm>
            <a:off x="457200" y="960120"/>
            <a:ext cx="1124712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cs typeface="Calibri" pitchFamily="34" charset="0"/>
              </a:rPr>
              <a:t>Where the state-space structure comes from — the same eight states, seen in another field</a:t>
            </a:r>
            <a:endParaRPr lang="en-US" sz="1500" dirty="0"/>
          </a:p>
        </p:txBody>
      </p:sp>
      <p:sp>
        <p:nvSpPr>
          <p:cNvPr id="4" name="LeftCard">
            <a:extLst>
              <a:ext uri="{FF2B5EF4-FFF2-40B4-BE49-F238E27FC236}">
                <a16:creationId xmlns:a16="http://schemas.microsoft.com/office/drawing/2014/main" id="{50D380DD-0A62-C0A2-3F0E-628314721E25}"/>
              </a:ext>
            </a:extLst>
          </p:cNvPr>
          <p:cNvSpPr/>
          <p:nvPr/>
        </p:nvSpPr>
        <p:spPr>
          <a:xfrm>
            <a:off x="457200" y="1382170"/>
            <a:ext cx="5362575" cy="19002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 wrap="square" lIns="137160" tIns="137160" rIns="137160" bIns="13716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B32"/>
                </a:solidFill>
                <a:latin typeface="Consolas" pitchFamily="34" charset="0"/>
                <a:cs typeface="Consolas" pitchFamily="34" charset="-120"/>
              </a:rPr>
              <a:t>What's a Hopfield network?</a:t>
            </a:r>
          </a:p>
          <a:p>
            <a:pPr marL="0" indent="0">
              <a:buNone/>
            </a:pPr>
            <a:endParaRPr lang="en-US" sz="9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0"/>
              </a:rPr>
              <a:t>A classic recurrent neural network from 1982. A set of neurons, each either on or off — 1 or 0.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0"/>
              </a:rPr>
              <a:t>So the whole network's state is just a binary string — exactly like our k-bit code.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0"/>
              </a:rPr>
              <a:t>It updates step by step and settles into stored "memory" states — the attractors.</a:t>
            </a:r>
          </a:p>
        </p:txBody>
      </p:sp>
      <p:sp>
        <p:nvSpPr>
          <p:cNvPr id="5" name="RightCard">
            <a:extLst>
              <a:ext uri="{FF2B5EF4-FFF2-40B4-BE49-F238E27FC236}">
                <a16:creationId xmlns:a16="http://schemas.microsoft.com/office/drawing/2014/main" id="{182A470B-52EA-3242-646B-B6A613B48484}"/>
              </a:ext>
            </a:extLst>
          </p:cNvPr>
          <p:cNvSpPr/>
          <p:nvPr/>
        </p:nvSpPr>
        <p:spPr>
          <a:xfrm>
            <a:off x="452760" y="3242370"/>
            <a:ext cx="5367014" cy="19002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 wrap="square" lIns="137160" tIns="137160" rIns="137160" bIns="13716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76F8E"/>
                </a:solidFill>
                <a:latin typeface="Consolas" pitchFamily="34" charset="0"/>
                <a:cs typeface="Consolas" pitchFamily="34" charset="-120"/>
              </a:rPr>
              <a:t>The link</a:t>
            </a:r>
          </a:p>
          <a:p>
            <a:pPr marL="0" indent="0">
              <a:buNone/>
            </a:pPr>
            <a:endParaRPr lang="en-US" sz="9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0"/>
              </a:rPr>
              <a:t>A network of k neurons has 2^k possible states — the corners of a k-dimensional binary cube.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cs typeface="Calibri" pitchFamily="34" charset="0"/>
              </a:rPr>
              <a:t>That is exactly our state space. k = 3 → 8 states → a 3-neuron Hopfield network.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0"/>
              </a:rPr>
              <a:t>The difference: Hopfield settles to one memory. The kBRM keeps the probabilities and counts payments over time.</a:t>
            </a:r>
          </a:p>
        </p:txBody>
      </p:sp>
      <p:sp>
        <p:nvSpPr>
          <p:cNvPr id="6" name="DarkBar">
            <a:extLst>
              <a:ext uri="{FF2B5EF4-FFF2-40B4-BE49-F238E27FC236}">
                <a16:creationId xmlns:a16="http://schemas.microsoft.com/office/drawing/2014/main" id="{0F73E05A-3852-D5C1-4E6B-4D29AE137973}"/>
              </a:ext>
            </a:extLst>
          </p:cNvPr>
          <p:cNvSpPr/>
          <p:nvPr/>
        </p:nvSpPr>
        <p:spPr>
          <a:xfrm>
            <a:off x="457200" y="5320000"/>
            <a:ext cx="11282040" cy="900000"/>
          </a:xfrm>
          <a:prstGeom prst="rect">
            <a:avLst/>
          </a:prstGeom>
          <a:solidFill>
            <a:srgbClr val="0B2B32"/>
          </a:solidFill>
          <a:ln/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Same binary state space, different question.  </a:t>
            </a:r>
            <a:r>
              <a:rPr lang="en-US" sz="1600" i="1" dirty="0">
                <a:solidFill>
                  <a:srgbClr val="CFE3E1"/>
                </a:solidFill>
                <a:latin typeface="Calibri" pitchFamily="34" charset="0"/>
                <a:cs typeface="Calibri" pitchFamily="34" charset="0"/>
              </a:rPr>
              <a:t>Recognising this was what turned a spreadsheet trick into a proper model.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5996B85-3543-D4C6-B8E6-BF7239E69196}"/>
              </a:ext>
            </a:extLst>
          </p:cNvPr>
          <p:cNvSpPr/>
          <p:nvPr/>
        </p:nvSpPr>
        <p:spPr>
          <a:xfrm>
            <a:off x="457200" y="6470000"/>
            <a:ext cx="9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cs typeface="Calibri" pitchFamily="34" charset="0"/>
              </a:rPr>
              <a:t>kBRM  ·  Kevin Hau  ·  github.com/KevinHY-Hau/k-Bit_Recurrence_Model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D590F5-338D-894D-7562-69FE9CA61C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"/>
          <a:stretch>
            <a:fillRect/>
          </a:stretch>
        </p:blipFill>
        <p:spPr>
          <a:xfrm>
            <a:off x="8728523" y="1464966"/>
            <a:ext cx="2924933" cy="33501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15EAC3-D64C-4188-0749-2168F13BE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469" y="1738145"/>
            <a:ext cx="2447926" cy="280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259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not a probability tree?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every month → 2</a:t>
            </a:r>
            <a:r>
              <a:rPr lang="en-US" sz="1500" i="1" baseline="30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states in month t</a:t>
            </a:r>
            <a:endParaRPr lang="en-US" sz="1500" dirty="0"/>
          </a:p>
        </p:txBody>
      </p:sp>
      <p:pic>
        <p:nvPicPr>
          <p:cNvPr id="4" name="Image 0" descr="/home/claude/ppt/pi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76072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0749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binary tree: 2</a:t>
            </a:r>
            <a:r>
              <a:rPr lang="en-US" sz="1100" i="1" baseline="30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leaves at month 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horizon t, a probability tree has...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83680" y="1920240"/>
            <a:ext cx="5120640" cy="54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rgbClr val="E6F2F1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8" name="Text 5"/>
          <p:cNvSpPr/>
          <p:nvPr/>
        </p:nvSpPr>
        <p:spPr>
          <a:xfrm>
            <a:off x="667512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6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1920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leaves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583680" y="2560320"/>
            <a:ext cx="5120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F2F1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1" name="Text 8"/>
          <p:cNvSpPr/>
          <p:nvPr/>
        </p:nvSpPr>
        <p:spPr>
          <a:xfrm>
            <a:off x="66751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12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55280" y="2560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4,096 leaves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583680" y="3200400"/>
            <a:ext cx="5120640" cy="54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rgbClr val="E6F2F1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4" name="Text 11"/>
          <p:cNvSpPr/>
          <p:nvPr/>
        </p:nvSpPr>
        <p:spPr>
          <a:xfrm>
            <a:off x="667512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24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955280" y="32004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16,777,216 leaves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583680" y="3840480"/>
            <a:ext cx="512064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6350">
            <a:solidFill>
              <a:srgbClr val="E6F2F1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7" name="Text 14"/>
          <p:cNvSpPr/>
          <p:nvPr/>
        </p:nvSpPr>
        <p:spPr>
          <a:xfrm>
            <a:off x="6675120" y="3840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36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5528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68,719,476,736 leaves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5836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kBRM collapses this to just </a:t>
            </a:r>
            <a:r>
              <a:rPr lang="en-US" sz="13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i="1" baseline="30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3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(t+1)</a:t>
            </a: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rows — </a:t>
            </a:r>
            <a:r>
              <a:rPr lang="en-US" sz="13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rows </a:t>
            </a: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t=24 for k=3.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1" name="Text 18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collapse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paths, same state — merge their probabilities based on number of payments and code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5998579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3: pairs of current-month states lead to the same next-month state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12648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dplyr, one line: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26480" y="1828800"/>
            <a:ext cx="5669280" cy="14630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8" name="Text 5"/>
          <p:cNvSpPr/>
          <p:nvPr/>
        </p:nvSpPr>
        <p:spPr>
          <a:xfrm>
            <a:off x="6309360" y="19202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DB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tbl %&gt;%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group_by(numStep, code, payNum) %&gt;%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summarise(prob = sum(prob))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126480" y="34747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126480" y="3840480"/>
            <a:ext cx="5669280" cy="803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payment paths that arrive at the same </a:t>
            </a: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(code, payNum)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tuple are indistinguishable for future forecasting. Their probabilities just add.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0" y="459867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space bounded by 2</a:t>
            </a:r>
            <a:r>
              <a:rPr lang="en-US" sz="1300" i="1" baseline="30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(t+1). Linear in horizon. Exact, not approximate.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13" name="Text 10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9" name="Picture 1">
            <a:extLst>
              <a:ext uri="{FF2B5EF4-FFF2-40B4-BE49-F238E27FC236}">
                <a16:creationId xmlns:a16="http://schemas.microsoft.com/office/drawing/2014/main" id="{1F88D167-5011-7340-FE0B-3E8E738A0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99629" y="1521622"/>
            <a:ext cx="4410075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Rounded Rectangle 3">
            <a:extLst>
              <a:ext uri="{FF2B5EF4-FFF2-40B4-BE49-F238E27FC236}">
                <a16:creationId xmlns:a16="http://schemas.microsoft.com/office/drawing/2014/main" id="{564FA66E-2002-54A2-5621-294149BDDFE6}"/>
              </a:ext>
            </a:extLst>
          </p:cNvPr>
          <p:cNvSpPr/>
          <p:nvPr/>
        </p:nvSpPr>
        <p:spPr>
          <a:xfrm>
            <a:off x="655613" y="1449614"/>
            <a:ext cx="2376264" cy="4320480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ounded Rectangle 4">
            <a:extLst>
              <a:ext uri="{FF2B5EF4-FFF2-40B4-BE49-F238E27FC236}">
                <a16:creationId xmlns:a16="http://schemas.microsoft.com/office/drawing/2014/main" id="{6A4DD435-682E-C9BF-EC2F-1AA35F21DC03}"/>
              </a:ext>
            </a:extLst>
          </p:cNvPr>
          <p:cNvSpPr/>
          <p:nvPr/>
        </p:nvSpPr>
        <p:spPr>
          <a:xfrm>
            <a:off x="3103885" y="1449614"/>
            <a:ext cx="2376264" cy="4320480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Minimal working example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parameters to a payment curve in nine lines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47120" cy="429768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7FDB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library(dplyr)</a:t>
            </a:r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parameter table: code, count, paid count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&lt;- data.frame(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   = c(“00", “01", "10", “11"),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cnt    = c(100,  500,  500,  1000),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 = c( 30,  300,  200,  900)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&lt;- getCodeTbl(x)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full joint distribution over 24 months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&lt;- getPymtPercTbl(y, numMth = 24)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payment curve D(t)</a:t>
            </a:r>
            <a:endParaRPr lang="en-US" sz="16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curve &lt;- getModelDeclineCurve(dist)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loops to write. No matrix to build. dplyr does the heavy lifting.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8" name="Text 6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BB9C1DE-13DE-F005-5F35-3FEC724E8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166" y="3865056"/>
            <a:ext cx="3353268" cy="135273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95CADF6-01D2-9B50-3471-D8EE795AE3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982" y="1987594"/>
            <a:ext cx="2219635" cy="1286054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CEFF2E15-CEF5-ADF1-E876-F3E445087438}"/>
              </a:ext>
            </a:extLst>
          </p:cNvPr>
          <p:cNvSpPr/>
          <p:nvPr/>
        </p:nvSpPr>
        <p:spPr>
          <a:xfrm>
            <a:off x="7302663" y="1987594"/>
            <a:ext cx="2743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6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4A13658-0A07-C715-5059-DA867C4D8369}"/>
              </a:ext>
            </a:extLst>
          </p:cNvPr>
          <p:cNvSpPr/>
          <p:nvPr/>
        </p:nvSpPr>
        <p:spPr>
          <a:xfrm>
            <a:off x="6735846" y="3773616"/>
            <a:ext cx="2743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600" dirty="0">
                <a:solidFill>
                  <a:srgbClr val="E0F2F1"/>
                </a:solidFill>
                <a:latin typeface="Consolas" pitchFamily="34" charset="0"/>
              </a:rPr>
              <a:t>y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whole thing is four 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doing one job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paidOrNotNext()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forward.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current-step distribution → returns next-step. The shift-register, the group-by, done.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1" name="Text 9"/>
          <p:cNvSpPr/>
          <p:nvPr/>
        </p:nvSpPr>
        <p:spPr>
          <a:xfrm>
            <a:off x="649224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paidOrNotPaid()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horizon from one starting state.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over n months. Handles static or cyclostationary params. Absorbing barrier built in.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6" name="Text 14"/>
          <p:cNvSpPr/>
          <p:nvPr/>
        </p:nvSpPr>
        <p:spPr>
          <a:xfrm>
            <a:off x="73152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getPymtPercTbl()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 starting state, combines.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full joint distribution P(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m,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S_t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s). This is the one table everything derives from.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20" name="Shape 18"/>
          <p:cNvSpPr/>
          <p:nvPr/>
        </p:nvSpPr>
        <p:spPr>
          <a:xfrm>
            <a:off x="6217920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1" name="Text 19"/>
          <p:cNvSpPr/>
          <p:nvPr/>
        </p:nvSpPr>
        <p:spPr>
          <a:xfrm>
            <a:off x="649224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getModelDeclineCurve()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 only.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payments + marginal payment curve D(t). No modelling — just sums and a lag.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5" name="Text 23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Decline/Growth Curves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four starting states, different shapes</a:t>
            </a:r>
            <a:endParaRPr lang="en-US" sz="1500" dirty="0"/>
          </a:p>
        </p:txBody>
      </p:sp>
      <p:pic>
        <p:nvPicPr>
          <p:cNvPr id="4" name="Image 0" descr="/home/claude/ppt/fig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40080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23760" y="1463040"/>
            <a:ext cx="4572000" cy="1005840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Text 3"/>
          <p:cNvSpPr/>
          <p:nvPr/>
        </p:nvSpPr>
        <p:spPr>
          <a:xfrm>
            <a:off x="7385806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9005104" y="1554480"/>
            <a:ext cx="269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declines from ~90% to ~70%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decline</a:t>
            </a:r>
            <a:endParaRPr lang="en-US" sz="13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7223760" y="2651760"/>
            <a:ext cx="45720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9" name="Text 6"/>
          <p:cNvSpPr/>
          <p:nvPr/>
        </p:nvSpPr>
        <p:spPr>
          <a:xfrm>
            <a:off x="7385806" y="26974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01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9005104" y="2743200"/>
            <a:ext cx="269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then flattens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transitional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223760" y="3840480"/>
            <a:ext cx="4572000" cy="1005840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2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2" name="Text 9"/>
          <p:cNvSpPr/>
          <p:nvPr/>
        </p:nvSpPr>
        <p:spPr>
          <a:xfrm>
            <a:off x="7385806" y="3886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26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05104" y="3931920"/>
            <a:ext cx="269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from ~5% to ~70%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curve</a:t>
            </a:r>
            <a:endParaRPr lang="en-US" sz="13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7223760" y="5394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→ a decline curve AND a growth curve. Useful for recovery on delinquent accounts.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16" name="Text 13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get the whole distribution, free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E[N</a:t>
            </a:r>
            <a:r>
              <a:rPr lang="en-US" sz="1500" i="1" baseline="-25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— the full probability density function at every step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223760" y="13716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algorithm propagates probabilities (not samples), you get analytically: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223760" y="2377440"/>
            <a:ext cx="13716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7" name="Text 4"/>
          <p:cNvSpPr/>
          <p:nvPr/>
        </p:nvSpPr>
        <p:spPr>
          <a:xfrm>
            <a:off x="7498080" y="2377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E[N</a:t>
            </a:r>
            <a:r>
              <a:rPr lang="en-US" sz="1500" b="1" baseline="-25000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961120" y="2377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payments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223760" y="2971800"/>
            <a:ext cx="13716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0" name="Text 7"/>
          <p:cNvSpPr/>
          <p:nvPr/>
        </p:nvSpPr>
        <p:spPr>
          <a:xfrm>
            <a:off x="7498080" y="2971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Var[N</a:t>
            </a:r>
            <a:r>
              <a:rPr lang="en-US" sz="1500" b="1" baseline="-25000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61120" y="2971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variance, any moment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223760" y="3566160"/>
            <a:ext cx="13716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3" name="Text 10"/>
          <p:cNvSpPr/>
          <p:nvPr/>
        </p:nvSpPr>
        <p:spPr>
          <a:xfrm>
            <a:off x="7498080" y="3566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Q_α(t)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961120" y="35661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quantile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223760" y="4160520"/>
            <a:ext cx="13716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6" name="Text 13"/>
          <p:cNvSpPr/>
          <p:nvPr/>
        </p:nvSpPr>
        <p:spPr>
          <a:xfrm>
            <a:off x="749808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96112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</a:t>
            </a:r>
            <a:r>
              <a:rPr lang="en-US" sz="1300" i="1" baseline="-25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</a:t>
            </a: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</a:t>
            </a:r>
            <a:r>
              <a:rPr lang="en-US" sz="1300" i="1" baseline="-25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</a:t>
            </a: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223760" y="4754880"/>
            <a:ext cx="13716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9" name="Text 16"/>
          <p:cNvSpPr/>
          <p:nvPr/>
        </p:nvSpPr>
        <p:spPr>
          <a:xfrm>
            <a:off x="7498080" y="4754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P(tail)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961120" y="4754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tail probs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223760" y="5486400"/>
            <a:ext cx="4572000" cy="731520"/>
          </a:xfrm>
          <a:prstGeom prst="rect">
            <a:avLst/>
          </a:prstGeom>
          <a:solidFill>
            <a:srgbClr val="E6F2F1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2" name="Text 19"/>
          <p:cNvSpPr/>
          <p:nvPr/>
        </p:nvSpPr>
        <p:spPr>
          <a:xfrm>
            <a:off x="7223760" y="54864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bootstrap. No MCMC. No simulation.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include maturity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4" name="Text 2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95CF731-7108-939B-398F-D375D4D6A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645" y="1255222"/>
            <a:ext cx="6254956" cy="468837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fast is it?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vs exponential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546694" y="1371600"/>
            <a:ext cx="4249066" cy="2103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6" name="Text 3"/>
          <p:cNvSpPr/>
          <p:nvPr/>
        </p:nvSpPr>
        <p:spPr>
          <a:xfrm>
            <a:off x="7678644" y="14630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kBRM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678644" y="1920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O(2</a:t>
            </a:r>
            <a:r>
              <a:rPr lang="en-US" sz="2200" b="1" baseline="30000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22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t · n)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08739" y="2468880"/>
            <a:ext cx="399558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 horizon. For k=3, ~200 rows at 24 months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46694" y="3657600"/>
            <a:ext cx="4249066" cy="21031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0" name="Text 7"/>
          <p:cNvSpPr/>
          <p:nvPr/>
        </p:nvSpPr>
        <p:spPr>
          <a:xfrm>
            <a:off x="7678644" y="37490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Naïve tree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7678644" y="4206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O(2</a:t>
            </a:r>
            <a:r>
              <a:rPr lang="en-US" sz="2200" b="1" baseline="30000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22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678644" y="4754880"/>
            <a:ext cx="402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exponential. 16.8 million nodes at t=24.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laptop won't make it.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14" name="Text 1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69A9E23-4882-92D8-62B9-3EA487D0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1280159"/>
            <a:ext cx="6664317" cy="49952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cyclostationary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 12-month cycle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95528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base parameters.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95528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sine wave to paidPerc.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955280" y="2880360"/>
            <a:ext cx="3840480" cy="2015731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9" name="Text 6"/>
          <p:cNvSpPr/>
          <p:nvPr/>
        </p:nvSpPr>
        <p:spPr>
          <a:xfrm>
            <a:off x="8138160" y="2994371"/>
            <a:ext cx="3566160" cy="168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cycle_adj &lt;- 0.95 +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0.05 * sin(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 * t * pi / 12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0F2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join to y, apply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 paidPerc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11" name="Text 8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D4F7BFC-A31A-9F9B-5497-7BE74F274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40" y="1280159"/>
            <a:ext cx="6601460" cy="49480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>
            <a:hlinkClick r:id="rId3"/>
          </p:cNvPr>
          <p:cNvSpPr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onsolas" pitchFamily="34" charset="0"/>
              </a:rPr>
              <a:t>Shiny App</a:t>
            </a:r>
            <a:endParaRPr lang="en-US" sz="5400" dirty="0"/>
          </a:p>
        </p:txBody>
      </p:sp>
      <p:sp>
        <p:nvSpPr>
          <p:cNvPr id="4" name="Text 2">
            <a:hlinkClick r:id="rId3"/>
          </p:cNvPr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https://kevinhyhau.shinyapps.io/k_Bit_Recurrence_Model/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3657600"/>
            <a:ext cx="5486400" cy="109728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editable table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rhandsontable — type your counts, hit Run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109728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9" name="Text 7"/>
          <p:cNvSpPr/>
          <p:nvPr/>
        </p:nvSpPr>
        <p:spPr>
          <a:xfrm>
            <a:off x="6400800" y="3749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2/3/4-bit history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42062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slider: k = 2 (4 states), 3 (8), 4 (16)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937760"/>
            <a:ext cx="5486400" cy="109728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to 24 months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4864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slider, any starting portfolio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4937760"/>
            <a:ext cx="5486400" cy="109728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5" name="Text 13"/>
          <p:cNvSpPr/>
          <p:nvPr/>
        </p:nvSpPr>
        <p:spPr>
          <a:xfrm>
            <a:off x="6400800" y="5029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interactive plots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54864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— hover, zoom, faceted by startCode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31">
            <a:extLst>
              <a:ext uri="{FF2B5EF4-FFF2-40B4-BE49-F238E27FC236}">
                <a16:creationId xmlns:a16="http://schemas.microsoft.com/office/drawing/2014/main" id="{0135A00C-967D-2BE2-29E0-F4F9B5329B58}"/>
              </a:ext>
            </a:extLst>
          </p:cNvPr>
          <p:cNvSpPr/>
          <p:nvPr/>
        </p:nvSpPr>
        <p:spPr>
          <a:xfrm>
            <a:off x="6400800" y="4754880"/>
            <a:ext cx="457200" cy="457200"/>
          </a:xfrm>
          <a:prstGeom prst="ellipse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44" name="Shape 31">
            <a:extLst>
              <a:ext uri="{FF2B5EF4-FFF2-40B4-BE49-F238E27FC236}">
                <a16:creationId xmlns:a16="http://schemas.microsoft.com/office/drawing/2014/main" id="{9A18C672-1D6A-F08B-10AC-8B993DBE80B7}"/>
              </a:ext>
            </a:extLst>
          </p:cNvPr>
          <p:cNvSpPr/>
          <p:nvPr/>
        </p:nvSpPr>
        <p:spPr>
          <a:xfrm>
            <a:off x="6400800" y="2971800"/>
            <a:ext cx="457200" cy="457200"/>
          </a:xfrm>
          <a:prstGeom prst="ellipse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 app structure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~370 lines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B32"/>
                </a:solidFill>
                <a:latin typeface="Consolas" pitchFamily="34" charset="0"/>
              </a:rPr>
              <a:t>Packages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09728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60345" y="1737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+ reactivity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109728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shinythemes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60345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 theme — clean look out of the box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109728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rhandsontable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60345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Excel-like input table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383280"/>
            <a:ext cx="109728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5" name="Text 13"/>
          <p:cNvSpPr/>
          <p:nvPr/>
        </p:nvSpPr>
        <p:spPr>
          <a:xfrm>
            <a:off x="731520" y="3383280"/>
            <a:ext cx="1962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dplyr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60345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data manipulation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109728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8" name="Text 16"/>
          <p:cNvSpPr/>
          <p:nvPr/>
        </p:nvSpPr>
        <p:spPr>
          <a:xfrm>
            <a:off x="73152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ggplot2 / plotly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60345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faceted charts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109728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1" name="Text 19"/>
          <p:cNvSpPr/>
          <p:nvPr/>
        </p:nvSpPr>
        <p:spPr>
          <a:xfrm>
            <a:off x="731520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DiagrammeR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60345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Mermaid diagram on the About tab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280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reactive flow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00800" y="1783080"/>
            <a:ext cx="457200" cy="457200"/>
          </a:xfrm>
          <a:prstGeom prst="ellipse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5" name="Text 23"/>
          <p:cNvSpPr/>
          <p:nvPr/>
        </p:nvSpPr>
        <p:spPr>
          <a:xfrm>
            <a:off x="6400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4088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moves slider → renderRHandsontable fires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0" y="2377440"/>
            <a:ext cx="457200" cy="457200"/>
          </a:xfrm>
          <a:prstGeom prst="ellipse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28" name="Text 26"/>
          <p:cNvSpPr/>
          <p:nvPr/>
        </p:nvSpPr>
        <p:spPr>
          <a:xfrm>
            <a:off x="64008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4088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edits table in place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Run → observeEvent(input$Run)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0" y="3566160"/>
            <a:ext cx="457200" cy="457200"/>
          </a:xfrm>
          <a:prstGeom prst="ellipse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34" name="Text 32"/>
          <p:cNvSpPr/>
          <p:nvPr/>
        </p:nvSpPr>
        <p:spPr>
          <a:xfrm>
            <a:off x="64008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40880" y="3566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counts, call getModelDeclineCurve()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0" y="4160520"/>
            <a:ext cx="457200" cy="457200"/>
          </a:xfrm>
          <a:prstGeom prst="ellipse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37" name="Text 35"/>
          <p:cNvSpPr/>
          <p:nvPr/>
        </p:nvSpPr>
        <p:spPr>
          <a:xfrm>
            <a:off x="64008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040880" y="4160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in ALL aggregate weighted by proportion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040880" y="4754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plotly charts + datatable tabs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43" name="Text 4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r>
              <a:rPr lang="en-US" sz="28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320603"/>
            <a:ext cx="11247120" cy="256147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GB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503483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Kevin Hon Yin Hau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960683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Chartered Statistician (RSS)  ·  UK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509322"/>
            <a:ext cx="1463040" cy="1143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6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</a:p>
          <a:p>
            <a:pPr marL="0" indent="0">
              <a:buNone/>
            </a:pPr>
            <a:endParaRPr lang="en-US" sz="1400" b="1" dirty="0">
              <a:solidFill>
                <a:srgbClr val="F76F8E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76F8E"/>
                </a:solidFill>
                <a:latin typeface="Consolas" pitchFamily="34" charset="0"/>
              </a:rPr>
              <a:t>Paper</a:t>
            </a:r>
          </a:p>
          <a:p>
            <a:pPr marL="0" indent="0">
              <a:buNone/>
            </a:pPr>
            <a:endParaRPr lang="en-US" sz="1400" b="1" dirty="0">
              <a:solidFill>
                <a:srgbClr val="F76F8E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76F8E"/>
                </a:solidFill>
                <a:latin typeface="Consolas" pitchFamily="34" charset="0"/>
              </a:rPr>
              <a:t>Contact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3417884"/>
            <a:ext cx="9144000" cy="1314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https://github.com/KevinHY-Hau/k-Bit_Recurrence_Model</a:t>
            </a:r>
            <a:endParaRPr lang="en-US" sz="14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i="1" dirty="0">
              <a:solidFill>
                <a:srgbClr val="E0F2F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400" i="1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k-Bit Recurrence Model for Binary Payment Sequences (in progress)</a:t>
            </a:r>
          </a:p>
          <a:p>
            <a:endParaRPr lang="en-US" sz="1400" i="1" dirty="0">
              <a:solidFill>
                <a:srgbClr val="E0F2F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400" i="1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kevinhyhau@gmail.com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82B3A-826A-69A1-C79B-F4ABBBAF4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596483-543F-BC90-1118-E02E022E31BE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whole thing is four functions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3B6F21E-718B-704E-B4C1-8C943E531352}"/>
              </a:ext>
            </a:extLst>
          </p:cNvPr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doing one job</a:t>
            </a:r>
            <a:endParaRPr lang="en-US" sz="15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E4D7E2D-BE70-BA64-529A-A92FC56EA73F}"/>
              </a:ext>
            </a:extLst>
          </p:cNvPr>
          <p:cNvSpPr/>
          <p:nvPr/>
        </p:nvSpPr>
        <p:spPr>
          <a:xfrm>
            <a:off x="487680" y="1280161"/>
            <a:ext cx="53949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8D5A2AB-CC8D-E868-49F3-D9DD722B6A9C}"/>
              </a:ext>
            </a:extLst>
          </p:cNvPr>
          <p:cNvSpPr/>
          <p:nvPr/>
        </p:nvSpPr>
        <p:spPr>
          <a:xfrm>
            <a:off x="45720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7A020C-42C8-5907-A93D-93E94E15C71D}"/>
              </a:ext>
            </a:extLst>
          </p:cNvPr>
          <p:cNvSpPr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paidOrNotNext()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CFD4AD4-D328-7280-3D45-98EAAE48E225}"/>
              </a:ext>
            </a:extLst>
          </p:cNvPr>
          <p:cNvSpPr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forward.</a:t>
            </a:r>
            <a:endParaRPr lang="en-US" sz="14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30C8CFD-346F-A1D1-990E-E660FC9ED6C0}"/>
              </a:ext>
            </a:extLst>
          </p:cNvPr>
          <p:cNvSpPr/>
          <p:nvPr/>
        </p:nvSpPr>
        <p:spPr>
          <a:xfrm>
            <a:off x="6309360" y="1280160"/>
            <a:ext cx="5394960" cy="466344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paidOrNotNext &lt;-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function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(tbl, payCodeTbl) {</a:t>
            </a:r>
          </a:p>
          <a:p>
            <a:r>
              <a:rPr lang="en-GB" sz="900" dirty="0"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## Extract the most recent step and join payment probabilities.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## Shift the state code left by one position (drop oldest bit).</a:t>
            </a:r>
          </a:p>
          <a:p>
            <a:r>
              <a:rPr lang="en-GB" sz="900" dirty="0"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tbl_last &lt;- tbl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filter(numStep == max(tbl$numStep))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inner_join(payCodeTbl, c(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"code"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= 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"code"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mutate(code = substr(code,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2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,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1200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out &lt;- tbl %&gt;% union_all(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## Paid branch: append '1', increment payNum,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##              multiply probability by p(s).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tbl_last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mutate(code   = paste(code, 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"1"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, sep = 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     payNum = payNum +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     prob   = prob * paidPerc)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union_all(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## Not-paid branch: append '0', payNum unchanged,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##                  multiply probability by q(s) = 1 - p(s).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tbl_last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  mutate(code = paste(code, 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"0"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, sep = 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         prob = prob * notPaidPerc)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mutate(numStep = numStep +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select(-paidPerc, -notPaidPerc)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## Collapse: sum probabilities over identical (numStep, code, payNum)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out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group_by(numStep, code, payNum)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summarise(prob = sum(prob)) %&gt;% ungroup()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58F1FAF-B5F7-3969-AF9E-983F93A62BDA}"/>
              </a:ext>
            </a:extLst>
          </p:cNvPr>
          <p:cNvSpPr/>
          <p:nvPr/>
        </p:nvSpPr>
        <p:spPr>
          <a:xfrm>
            <a:off x="6492240" y="141732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AC0DB0E-B66F-C2A1-93FC-32B184DE3350}"/>
              </a:ext>
            </a:extLst>
          </p:cNvPr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F7AD93D-FA3D-5EBB-AAB4-98C7812E410C}"/>
              </a:ext>
            </a:extLst>
          </p:cNvPr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728F0CDC-48A4-E78D-4A19-A8A97F38E1A1}"/>
              </a:ext>
            </a:extLst>
          </p:cNvPr>
          <p:cNvSpPr/>
          <p:nvPr/>
        </p:nvSpPr>
        <p:spPr>
          <a:xfrm>
            <a:off x="73152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current-step distribution → returns next-step. The shift-register, the group-by, done.</a:t>
            </a:r>
            <a:endParaRPr lang="en-US" sz="1300" dirty="0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71336766-CBDC-4220-9AEF-9FBBD6591F73}"/>
              </a:ext>
            </a:extLst>
          </p:cNvPr>
          <p:cNvSpPr/>
          <p:nvPr/>
        </p:nvSpPr>
        <p:spPr>
          <a:xfrm>
            <a:off x="457200" y="374904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E7B93EA0-57D6-5DFD-D8A4-14272845F223}"/>
              </a:ext>
            </a:extLst>
          </p:cNvPr>
          <p:cNvSpPr/>
          <p:nvPr/>
        </p:nvSpPr>
        <p:spPr>
          <a:xfrm>
            <a:off x="457200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1CA74151-BF38-F284-29B9-062DEFDE137D}"/>
              </a:ext>
            </a:extLst>
          </p:cNvPr>
          <p:cNvSpPr/>
          <p:nvPr/>
        </p:nvSpPr>
        <p:spPr>
          <a:xfrm>
            <a:off x="73152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getPymtPercTbl()</a:t>
            </a:r>
            <a:endParaRPr lang="en-US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5714B949-3855-A56F-8B30-4AC50A2405F7}"/>
              </a:ext>
            </a:extLst>
          </p:cNvPr>
          <p:cNvSpPr/>
          <p:nvPr/>
        </p:nvSpPr>
        <p:spPr>
          <a:xfrm>
            <a:off x="73152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 starting state, combines.</a:t>
            </a:r>
            <a:endParaRPr 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F13B1FCF-6735-9D90-397C-665441628116}"/>
              </a:ext>
            </a:extLst>
          </p:cNvPr>
          <p:cNvSpPr/>
          <p:nvPr/>
        </p:nvSpPr>
        <p:spPr>
          <a:xfrm>
            <a:off x="73152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full joint distribution P(N_t = m, S_t = s). This is the one table everything derives from.</a:t>
            </a:r>
            <a:endParaRPr lang="en-US"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8E36376-3713-E08A-65B3-85722B28EE1D}"/>
              </a:ext>
            </a:extLst>
          </p:cNvPr>
          <p:cNvSpPr/>
          <p:nvPr/>
        </p:nvSpPr>
        <p:spPr>
          <a:xfrm>
            <a:off x="6204966" y="1280161"/>
            <a:ext cx="109728" cy="46634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4547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5A96A-ADA9-C017-11D5-7BB86CB47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9AC6642-8047-B995-5B82-A671D8197F1C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whole thing is four functions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D405AAE-F163-C819-14D5-F4CAA0375CFD}"/>
              </a:ext>
            </a:extLst>
          </p:cNvPr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doing one job</a:t>
            </a:r>
            <a:endParaRPr lang="en-US" sz="15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94B10BD-B9A6-82B8-37E5-01C11A8D60AB}"/>
              </a:ext>
            </a:extLst>
          </p:cNvPr>
          <p:cNvSpPr/>
          <p:nvPr/>
        </p:nvSpPr>
        <p:spPr>
          <a:xfrm>
            <a:off x="566928" y="1280160"/>
            <a:ext cx="5376672" cy="466344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paidOrNotPaid &lt;-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function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(startCode, payCodeTbl, numMth,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                  start_mth_num =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chk_cycle &lt;- any(names(payCodeTbl) == </a:t>
            </a:r>
            <a:r>
              <a:rPr lang="en-GB" sz="900" dirty="0">
                <a:solidFill>
                  <a:srgbClr val="00FF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"mth_num"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## Pre-select columns for static case.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if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(!chk_cycle) pay_code&lt;-payCodeTbl %&gt;% select(</a:t>
            </a:r>
            <a:r>
              <a:rPr lang="en-GB" sz="900" dirty="0" err="1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code,paidPerc,notPaidPerc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## Initialise: step 0, starting state, zero payments, probability = 1.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tbl &lt;- data.frame(numStep =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0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, code = startCode, payNum =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0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, prob =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for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(i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in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seq_len(numMth)) {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## Cyclostationary: look up the parameter set for the current calendar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## month. The modular index maps any forecast horizon back to the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## correct month in the cycle.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if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(chk_cycle) {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mth_idx  &lt;- ((start_mth_num + i) %% max(payCodeTbl$mth_num)) +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pay_code &lt;- payCodeTbl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filter(mth_num == mth_idx)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    select(code, paidPerc, notPaidPerc)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tbl &lt;- paidOrNotNext(tbl, pay_code)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GB" sz="900" dirty="0">
                <a:solidFill>
                  <a:schemeClr val="accent4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## Remove the step-0 initialisation row and add the startCode label.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</a:t>
            </a:r>
            <a:r>
              <a:rPr lang="en-GB" sz="900" dirty="0" err="1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tbl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%&gt;%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filter(numStep &gt;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0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mutate(startCode = startCode)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group_by(startCode, numStep, payNum)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summarise(prob = sum(prob))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    ungroup()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136F45D-D017-EA43-D21B-F159E199C2E1}"/>
              </a:ext>
            </a:extLst>
          </p:cNvPr>
          <p:cNvSpPr/>
          <p:nvPr/>
        </p:nvSpPr>
        <p:spPr>
          <a:xfrm>
            <a:off x="621792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09CA0C2-6180-F32C-C6A4-AF61344953F9}"/>
              </a:ext>
            </a:extLst>
          </p:cNvPr>
          <p:cNvSpPr/>
          <p:nvPr/>
        </p:nvSpPr>
        <p:spPr>
          <a:xfrm>
            <a:off x="621792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7D2BF97-F347-9D93-78F6-9690F7EC6238}"/>
              </a:ext>
            </a:extLst>
          </p:cNvPr>
          <p:cNvSpPr/>
          <p:nvPr/>
        </p:nvSpPr>
        <p:spPr>
          <a:xfrm>
            <a:off x="649224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paidOrNotPaid()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3E65871-C99F-DF1B-5424-4040C5487B73}"/>
              </a:ext>
            </a:extLst>
          </p:cNvPr>
          <p:cNvSpPr/>
          <p:nvPr/>
        </p:nvSpPr>
        <p:spPr>
          <a:xfrm>
            <a:off x="649224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horizon from one starting state.</a:t>
            </a:r>
            <a:endParaRPr lang="en-US" sz="1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23B418-137D-37A8-E82A-395BF0E7F40D}"/>
              </a:ext>
            </a:extLst>
          </p:cNvPr>
          <p:cNvSpPr/>
          <p:nvPr/>
        </p:nvSpPr>
        <p:spPr>
          <a:xfrm>
            <a:off x="649224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over n months. Handles static or cyclostationary params. Absorbing barrier built in.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BE16B84-296D-9DEE-56D7-BE149B48A432}"/>
              </a:ext>
            </a:extLst>
          </p:cNvPr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3CE9E5A-8254-F198-2AC9-256FCFB1683D}"/>
              </a:ext>
            </a:extLst>
          </p:cNvPr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9F077B88-DD8F-9E06-6B3B-1B4FC5E7ECE3}"/>
              </a:ext>
            </a:extLst>
          </p:cNvPr>
          <p:cNvSpPr/>
          <p:nvPr/>
        </p:nvSpPr>
        <p:spPr>
          <a:xfrm>
            <a:off x="6217920" y="374904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F75EB6BD-009D-0177-A904-62AF7EE1DC0C}"/>
              </a:ext>
            </a:extLst>
          </p:cNvPr>
          <p:cNvSpPr/>
          <p:nvPr/>
        </p:nvSpPr>
        <p:spPr>
          <a:xfrm>
            <a:off x="6217920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E61DE16B-2B3B-6349-3B71-C7F44DD84067}"/>
              </a:ext>
            </a:extLst>
          </p:cNvPr>
          <p:cNvSpPr/>
          <p:nvPr/>
        </p:nvSpPr>
        <p:spPr>
          <a:xfrm>
            <a:off x="649224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getModelDeclineCurve()</a:t>
            </a:r>
            <a:endParaRPr lang="en-US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5188C777-A018-125D-ADA5-36CB9D328AFA}"/>
              </a:ext>
            </a:extLst>
          </p:cNvPr>
          <p:cNvSpPr/>
          <p:nvPr/>
        </p:nvSpPr>
        <p:spPr>
          <a:xfrm>
            <a:off x="649224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 only.</a:t>
            </a:r>
            <a:endParaRPr 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A996627C-3570-28CF-6E0F-D3D789710AAB}"/>
              </a:ext>
            </a:extLst>
          </p:cNvPr>
          <p:cNvSpPr/>
          <p:nvPr/>
        </p:nvSpPr>
        <p:spPr>
          <a:xfrm>
            <a:off x="649224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payments + marginal payment curve D(t). No modelling — just sums and a lag.</a:t>
            </a:r>
            <a:endParaRPr lang="en-US"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16630091-19C2-B0B8-BB01-D403FF104DEB}"/>
              </a:ext>
            </a:extLst>
          </p:cNvPr>
          <p:cNvSpPr/>
          <p:nvPr/>
        </p:nvSpPr>
        <p:spPr>
          <a:xfrm>
            <a:off x="469392" y="1280161"/>
            <a:ext cx="109728" cy="46634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21093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BB764-3B67-E348-219E-1611A14B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D648E9-9F08-B658-98A1-E0465C3B451B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whole thing is four functions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DC543EC-25E2-5553-F937-E30F8E3ED05B}"/>
              </a:ext>
            </a:extLst>
          </p:cNvPr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doing one job</a:t>
            </a:r>
            <a:endParaRPr lang="en-US" sz="15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D63027B-608D-934F-D5C0-CA735B06FD2B}"/>
              </a:ext>
            </a:extLst>
          </p:cNvPr>
          <p:cNvSpPr/>
          <p:nvPr/>
        </p:nvSpPr>
        <p:spPr>
          <a:xfrm>
            <a:off x="457200" y="374904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40DEFAF-6BE2-E32B-9AB0-8E09849E8284}"/>
              </a:ext>
            </a:extLst>
          </p:cNvPr>
          <p:cNvSpPr/>
          <p:nvPr/>
        </p:nvSpPr>
        <p:spPr>
          <a:xfrm>
            <a:off x="457200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66672EC-56FD-9A22-2C3F-E71D79F2D159}"/>
              </a:ext>
            </a:extLst>
          </p:cNvPr>
          <p:cNvSpPr/>
          <p:nvPr/>
        </p:nvSpPr>
        <p:spPr>
          <a:xfrm>
            <a:off x="73152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getPymtPercTbl()</a:t>
            </a:r>
            <a:endParaRPr lang="en-US" sz="2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1763F5C-C666-0A87-5C5A-1205096EA953}"/>
              </a:ext>
            </a:extLst>
          </p:cNvPr>
          <p:cNvSpPr/>
          <p:nvPr/>
        </p:nvSpPr>
        <p:spPr>
          <a:xfrm>
            <a:off x="73152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 starting state, combines.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48F7253-4341-49B9-AC7E-50B6293351B7}"/>
              </a:ext>
            </a:extLst>
          </p:cNvPr>
          <p:cNvSpPr/>
          <p:nvPr/>
        </p:nvSpPr>
        <p:spPr>
          <a:xfrm>
            <a:off x="73152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full joint distribution P(N</a:t>
            </a:r>
            <a:r>
              <a:rPr lang="en-US" sz="1300" baseline="-25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m, S</a:t>
            </a:r>
            <a:r>
              <a:rPr lang="en-US" sz="1300" baseline="-25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s). This is the one table everything derives from.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A12B0EC-7CE0-EB4B-6E2F-CFA833F44657}"/>
              </a:ext>
            </a:extLst>
          </p:cNvPr>
          <p:cNvSpPr/>
          <p:nvPr/>
        </p:nvSpPr>
        <p:spPr>
          <a:xfrm>
            <a:off x="6327648" y="3749040"/>
            <a:ext cx="5376672" cy="219456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getPymtPercTbl &lt;-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  <a:cs typeface="Courier New" panose="02070309020205020404" pitchFamily="49" charset="0"/>
              </a:rPr>
              <a:t>function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(payCodeTbl, numMth,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                     start_mth_num =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) {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unique_codes &lt;- unique(</a:t>
            </a:r>
            <a:r>
              <a:rPr lang="en-GB" sz="900" dirty="0" err="1">
                <a:solidFill>
                  <a:schemeClr val="bg1"/>
                </a:solidFill>
                <a:latin typeface="Lucida Console" panose="020B0609040504020204" pitchFamily="49" charset="0"/>
              </a:rPr>
              <a:t>payCodeTbl$code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result &lt;- paidOrNotPaid(unique_codes[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], payCodeTbl,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                    numMth, </a:t>
            </a:r>
            <a:r>
              <a:rPr lang="en-GB" sz="900" dirty="0" err="1">
                <a:solidFill>
                  <a:schemeClr val="bg1"/>
                </a:solidFill>
                <a:latin typeface="Lucida Console" panose="020B0609040504020204" pitchFamily="49" charset="0"/>
              </a:rPr>
              <a:t>start_mth_num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</a:rPr>
              <a:t>for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(i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</a:rPr>
              <a:t>in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seq_along(unique_codes)[-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]) {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result &lt;- union_all(result,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                  paidOrNotPaid(unique_codes[i], payCodeTbl,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                                numMth, </a:t>
            </a:r>
            <a:r>
              <a:rPr lang="en-GB" sz="900" dirty="0" err="1">
                <a:solidFill>
                  <a:schemeClr val="bg1"/>
                </a:solidFill>
                <a:latin typeface="Lucida Console" panose="020B0609040504020204" pitchFamily="49" charset="0"/>
              </a:rPr>
              <a:t>start_mth_num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))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}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result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}</a:t>
            </a:r>
          </a:p>
          <a:p>
            <a:endParaRPr lang="en-GB" sz="900" dirty="0">
              <a:solidFill>
                <a:schemeClr val="bg1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B803C76-D358-4C01-4581-8D2E9C8E4836}"/>
              </a:ext>
            </a:extLst>
          </p:cNvPr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B128393-16B0-9E2F-D0B8-FB8A8FBD504F}"/>
              </a:ext>
            </a:extLst>
          </p:cNvPr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A6382AD6-287E-5CFB-4037-65CABFD8B1B1}"/>
              </a:ext>
            </a:extLst>
          </p:cNvPr>
          <p:cNvSpPr/>
          <p:nvPr/>
        </p:nvSpPr>
        <p:spPr>
          <a:xfrm>
            <a:off x="45720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050DC184-4B6C-8B10-5EC8-1376050E7BC9}"/>
              </a:ext>
            </a:extLst>
          </p:cNvPr>
          <p:cNvSpPr/>
          <p:nvPr/>
        </p:nvSpPr>
        <p:spPr>
          <a:xfrm>
            <a:off x="45720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F13F67DE-A418-BF96-000A-2AE09F1E735C}"/>
              </a:ext>
            </a:extLst>
          </p:cNvPr>
          <p:cNvSpPr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paidOrNotNext()</a:t>
            </a:r>
            <a:endParaRPr lang="en-US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CC9DE6E6-76C3-ED55-0A94-53C1C7D8963F}"/>
              </a:ext>
            </a:extLst>
          </p:cNvPr>
          <p:cNvSpPr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forward.</a:t>
            </a:r>
            <a:endParaRPr 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B8822000-8968-6CCB-608A-5BEC5E5E198E}"/>
              </a:ext>
            </a:extLst>
          </p:cNvPr>
          <p:cNvSpPr/>
          <p:nvPr/>
        </p:nvSpPr>
        <p:spPr>
          <a:xfrm>
            <a:off x="73152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current-step distribution → returns next-step. The shift-register, the group-by, done.</a:t>
            </a:r>
            <a:endParaRPr lang="en-US"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33E970B0-C7D3-F7CA-6122-6F3917976274}"/>
              </a:ext>
            </a:extLst>
          </p:cNvPr>
          <p:cNvSpPr/>
          <p:nvPr/>
        </p:nvSpPr>
        <p:spPr>
          <a:xfrm>
            <a:off x="621792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F0BCD160-5BF6-C9DF-627C-71C2422163CA}"/>
              </a:ext>
            </a:extLst>
          </p:cNvPr>
          <p:cNvSpPr/>
          <p:nvPr/>
        </p:nvSpPr>
        <p:spPr>
          <a:xfrm>
            <a:off x="621792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472419D4-6708-B617-CD86-7D353932C659}"/>
              </a:ext>
            </a:extLst>
          </p:cNvPr>
          <p:cNvSpPr/>
          <p:nvPr/>
        </p:nvSpPr>
        <p:spPr>
          <a:xfrm>
            <a:off x="649224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paidOrNotPaid()</a:t>
            </a:r>
            <a:endParaRPr lang="en-US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61CBEE20-BDA8-1854-B0F8-F0F4F9C39A84}"/>
              </a:ext>
            </a:extLst>
          </p:cNvPr>
          <p:cNvSpPr/>
          <p:nvPr/>
        </p:nvSpPr>
        <p:spPr>
          <a:xfrm>
            <a:off x="649224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horizon from one starting state.</a:t>
            </a:r>
            <a:endParaRPr 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038A3B5A-4D34-E69D-83F1-835B64813588}"/>
              </a:ext>
            </a:extLst>
          </p:cNvPr>
          <p:cNvSpPr/>
          <p:nvPr/>
        </p:nvSpPr>
        <p:spPr>
          <a:xfrm>
            <a:off x="649224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over n months. Handles static or cyclostationary params. Absorbing barrier built in.</a:t>
            </a:r>
            <a:endParaRPr lang="en-US"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hape 8">
            <a:extLst>
              <a:ext uri="{FF2B5EF4-FFF2-40B4-BE49-F238E27FC236}">
                <a16:creationId xmlns:a16="http://schemas.microsoft.com/office/drawing/2014/main" id="{4D122F32-7E69-4D6D-7A0E-A114CE92C1E4}"/>
              </a:ext>
            </a:extLst>
          </p:cNvPr>
          <p:cNvSpPr/>
          <p:nvPr/>
        </p:nvSpPr>
        <p:spPr>
          <a:xfrm>
            <a:off x="6232779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289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FA3EA-4B00-078F-BAA2-C3FA9CF36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EB2CE6-737D-8E60-8C81-8F475E03EFC9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whole thing is four functions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490E01-453E-07B9-F295-62303849C2FA}"/>
              </a:ext>
            </a:extLst>
          </p:cNvPr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doing one job</a:t>
            </a:r>
            <a:endParaRPr lang="en-US" sz="15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7C10692-BFA6-DA0A-18A9-AE6E91E16CC3}"/>
              </a:ext>
            </a:extLst>
          </p:cNvPr>
          <p:cNvSpPr/>
          <p:nvPr/>
        </p:nvSpPr>
        <p:spPr>
          <a:xfrm>
            <a:off x="566928" y="3749040"/>
            <a:ext cx="5376672" cy="219456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getModelDeclineCurve &lt;- </a:t>
            </a:r>
            <a:r>
              <a:rPr lang="en-GB" sz="900" dirty="0">
                <a:solidFill>
                  <a:srgbClr val="FF3300"/>
                </a:solidFill>
                <a:latin typeface="Lucida Console" panose="020B0609040504020204" pitchFamily="49" charset="0"/>
              </a:rPr>
              <a:t>function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(pymtPercTbl) {</a:t>
            </a:r>
          </a:p>
          <a:p>
            <a:endParaRPr lang="en-GB" sz="900" dirty="0">
              <a:solidFill>
                <a:schemeClr val="bg1"/>
              </a:solidFill>
              <a:latin typeface="Lucida Console" panose="020B0609040504020204" pitchFamily="49" charset="0"/>
            </a:endParaRP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result &lt;- pymtPercTbl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group_by(startCode, numStep)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summarise(expectedPayt = sum(payNum * prob)) %&gt;% ungroup()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result %&gt;% left_join(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result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  mutate(numStep = numStep +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</a:rPr>
              <a:t>1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, expectedPaytLast = expectedPayt)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  select(startCode, numStep, expectedPaytLast),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  by = c("startCode", "numStep")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mutate(declineCurve = expectedPayt - coalesce(expectedPaytLast, </a:t>
            </a:r>
            <a:r>
              <a:rPr lang="en-GB" sz="900" dirty="0">
                <a:solidFill>
                  <a:schemeClr val="accent6"/>
                </a:solidFill>
                <a:latin typeface="Lucida Console" panose="020B0609040504020204" pitchFamily="49" charset="0"/>
              </a:rPr>
              <a:t>0</a:t>
            </a:r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)) %&gt;%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    select(-expectedPaytLast)</a:t>
            </a:r>
          </a:p>
          <a:p>
            <a:r>
              <a:rPr lang="en-GB" sz="900" dirty="0">
                <a:solidFill>
                  <a:schemeClr val="bg1"/>
                </a:solidFill>
                <a:latin typeface="Lucida Console" panose="020B0609040504020204" pitchFamily="49" charset="0"/>
              </a:rPr>
              <a:t>}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D8D5337-20D0-5D14-7E2A-FC6A5ABF26F8}"/>
              </a:ext>
            </a:extLst>
          </p:cNvPr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kBRM  ·  Kevin Hau  ·  github.com/KevinHY-Hau/k-Bit_Recurrence_Model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A08FEE5-CAE5-56AE-7132-CE9EBB5F764C}"/>
              </a:ext>
            </a:extLst>
          </p:cNvPr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AFDA0E6F-6162-AF99-A906-084BF5BEE33A}"/>
              </a:ext>
            </a:extLst>
          </p:cNvPr>
          <p:cNvSpPr/>
          <p:nvPr/>
        </p:nvSpPr>
        <p:spPr>
          <a:xfrm>
            <a:off x="45720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3A0AE8DC-321C-3E31-D709-5E9F799E6F4F}"/>
              </a:ext>
            </a:extLst>
          </p:cNvPr>
          <p:cNvSpPr/>
          <p:nvPr/>
        </p:nvSpPr>
        <p:spPr>
          <a:xfrm>
            <a:off x="45720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8FF79D77-C20F-881B-2CE9-87449389F76B}"/>
              </a:ext>
            </a:extLst>
          </p:cNvPr>
          <p:cNvSpPr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paidOrNotNext()</a:t>
            </a:r>
            <a:endParaRPr lang="en-US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2872BCA9-169F-64A4-4EFE-49CEADCF8EA2}"/>
              </a:ext>
            </a:extLst>
          </p:cNvPr>
          <p:cNvSpPr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forward.</a:t>
            </a:r>
            <a:endParaRPr 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1AED29FB-409D-B319-FD19-391EB2065E2B}"/>
              </a:ext>
            </a:extLst>
          </p:cNvPr>
          <p:cNvSpPr/>
          <p:nvPr/>
        </p:nvSpPr>
        <p:spPr>
          <a:xfrm>
            <a:off x="73152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current-step distribution → returns next-step. The shift-register, the group-by, done.</a:t>
            </a:r>
            <a:endParaRPr lang="en-US"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1A5F30AC-7EAE-A1DA-C334-FD8C4B116A81}"/>
              </a:ext>
            </a:extLst>
          </p:cNvPr>
          <p:cNvSpPr/>
          <p:nvPr/>
        </p:nvSpPr>
        <p:spPr>
          <a:xfrm>
            <a:off x="6217920" y="128016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49E28170-6EF6-BABB-8921-70401DAFFC15}"/>
              </a:ext>
            </a:extLst>
          </p:cNvPr>
          <p:cNvSpPr/>
          <p:nvPr/>
        </p:nvSpPr>
        <p:spPr>
          <a:xfrm>
            <a:off x="6217920" y="128016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C00AFF3-B4B6-59CC-1B02-100261BE5212}"/>
              </a:ext>
            </a:extLst>
          </p:cNvPr>
          <p:cNvSpPr/>
          <p:nvPr/>
        </p:nvSpPr>
        <p:spPr>
          <a:xfrm>
            <a:off x="6492240" y="1417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paidOrNotPaid()</a:t>
            </a:r>
            <a:endParaRPr lang="en-US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7BEEA78D-CF50-6E7D-A607-E6868197A7DB}"/>
              </a:ext>
            </a:extLst>
          </p:cNvPr>
          <p:cNvSpPr/>
          <p:nvPr/>
        </p:nvSpPr>
        <p:spPr>
          <a:xfrm>
            <a:off x="6492240" y="1920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horizon from one starting state.</a:t>
            </a:r>
            <a:endParaRPr 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DF5DCA4E-0CD3-AE90-CDFA-FB64A4CDC805}"/>
              </a:ext>
            </a:extLst>
          </p:cNvPr>
          <p:cNvSpPr/>
          <p:nvPr/>
        </p:nvSpPr>
        <p:spPr>
          <a:xfrm>
            <a:off x="6492240" y="23317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over n months. Handles static or cyclostationary params. Absorbing barrier built in.</a:t>
            </a:r>
            <a:endParaRPr lang="en-US"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hape 17">
            <a:extLst>
              <a:ext uri="{FF2B5EF4-FFF2-40B4-BE49-F238E27FC236}">
                <a16:creationId xmlns:a16="http://schemas.microsoft.com/office/drawing/2014/main" id="{A7D7518F-715A-3A7A-BCF5-DE0B9434852F}"/>
              </a:ext>
            </a:extLst>
          </p:cNvPr>
          <p:cNvSpPr/>
          <p:nvPr/>
        </p:nvSpPr>
        <p:spPr>
          <a:xfrm>
            <a:off x="6217920" y="374904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F2F1"/>
            </a:solidFill>
            <a:prstDash val="solid"/>
          </a:ln>
          <a:effectLst>
            <a:outerShdw blurRad="101600" dist="25400" dir="8100000" algn="bl" rotWithShape="0">
              <a:srgbClr val="0B2B32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5" name="Shape 18">
            <a:extLst>
              <a:ext uri="{FF2B5EF4-FFF2-40B4-BE49-F238E27FC236}">
                <a16:creationId xmlns:a16="http://schemas.microsoft.com/office/drawing/2014/main" id="{1595A210-83F2-C6E5-66C5-8CB025E21DCA}"/>
              </a:ext>
            </a:extLst>
          </p:cNvPr>
          <p:cNvSpPr/>
          <p:nvPr/>
        </p:nvSpPr>
        <p:spPr>
          <a:xfrm>
            <a:off x="6217920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6" name="Text 19">
            <a:extLst>
              <a:ext uri="{FF2B5EF4-FFF2-40B4-BE49-F238E27FC236}">
                <a16:creationId xmlns:a16="http://schemas.microsoft.com/office/drawing/2014/main" id="{5C113F48-D4A3-47E3-8E72-6DAD830F2FC2}"/>
              </a:ext>
            </a:extLst>
          </p:cNvPr>
          <p:cNvSpPr/>
          <p:nvPr/>
        </p:nvSpPr>
        <p:spPr>
          <a:xfrm>
            <a:off x="649224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getModelDeclineCurve()</a:t>
            </a:r>
            <a:endParaRPr lang="en-US" sz="2000" dirty="0"/>
          </a:p>
        </p:txBody>
      </p:sp>
      <p:sp>
        <p:nvSpPr>
          <p:cNvPr id="7" name="Text 20">
            <a:extLst>
              <a:ext uri="{FF2B5EF4-FFF2-40B4-BE49-F238E27FC236}">
                <a16:creationId xmlns:a16="http://schemas.microsoft.com/office/drawing/2014/main" id="{70366458-268F-D4A7-EDB6-ACF876FB5449}"/>
              </a:ext>
            </a:extLst>
          </p:cNvPr>
          <p:cNvSpPr/>
          <p:nvPr/>
        </p:nvSpPr>
        <p:spPr>
          <a:xfrm>
            <a:off x="649224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 only.</a:t>
            </a:r>
            <a:endParaRPr lang="en-US" sz="1400" dirty="0"/>
          </a:p>
        </p:txBody>
      </p:sp>
      <p:sp>
        <p:nvSpPr>
          <p:cNvPr id="8" name="Text 21">
            <a:extLst>
              <a:ext uri="{FF2B5EF4-FFF2-40B4-BE49-F238E27FC236}">
                <a16:creationId xmlns:a16="http://schemas.microsoft.com/office/drawing/2014/main" id="{93DB337E-907E-477B-4D49-185480EDA55B}"/>
              </a:ext>
            </a:extLst>
          </p:cNvPr>
          <p:cNvSpPr/>
          <p:nvPr/>
        </p:nvSpPr>
        <p:spPr>
          <a:xfrm>
            <a:off x="649224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payments + marginal payment curve D(t). No modelling — just sums and a lag.</a:t>
            </a:r>
            <a:endParaRPr lang="en-US" sz="1300" dirty="0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6D380368-A336-19B9-80D2-F162F7B30B8A}"/>
              </a:ext>
            </a:extLst>
          </p:cNvPr>
          <p:cNvSpPr/>
          <p:nvPr/>
        </p:nvSpPr>
        <p:spPr>
          <a:xfrm>
            <a:off x="469392" y="3749040"/>
            <a:ext cx="109728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983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53941</TotalTime>
  <Words>2717</Words>
  <Application>Microsoft Office PowerPoint</Application>
  <PresentationFormat>Widescreen</PresentationFormat>
  <Paragraphs>406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Consolas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kBRM — a k-Bit Recurrence Model in R</dc:title>
  <dc:subject>PptxGenJS Presentation</dc:subject>
  <dc:creator>Kevin Hon Yin Hau</dc:creator>
  <cp:lastModifiedBy>Kevin HY Hau</cp:lastModifiedBy>
  <cp:revision>40</cp:revision>
  <dcterms:created xsi:type="dcterms:W3CDTF">2026-04-21T07:03:27Z</dcterms:created>
  <dcterms:modified xsi:type="dcterms:W3CDTF">2026-07-08T21:46:33Z</dcterms:modified>
</cp:coreProperties>
</file>